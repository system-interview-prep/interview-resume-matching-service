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0B981"/>
                </a:solidFill>
                <a:latin typeface="Outfit"/>
              </a:defRPr>
            </a:pPr>
            <a:r>
              <a:t>HỆ THỐNG SO KHỚP CV-JD ĐA TIÊU CHÍ</a:t>
            </a:r>
          </a:p>
          <a:p>
            <a:pPr>
              <a:spcBef>
                <a:spcPts val="2000"/>
              </a:spcBef>
              <a:defRPr sz="2000">
                <a:solidFill>
                  <a:srgbClr val="FFFFFF"/>
                </a:solidFill>
                <a:latin typeface="Inter"/>
              </a:defRPr>
            </a:pPr>
            <a:r>
              <a:t>Kiến trúc 3 Trụ cột, Thuật toán Chấm điểm &amp; Quy trình Đồng bộ Caching pgvector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Tài liệu kỹ thuật mô tả cấu trúc thuật toán &amp; luồng hoạt động tích hợp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Kiến trúc 3 Trụ cột (Three-Pillar Architecture)</a:t>
            </a:r>
          </a:p>
          <a:p>
            <a:pPr>
              <a:spcBef>
                <a:spcPts val="800"/>
              </a:spcBef>
              <a:defRPr sz="1600">
                <a:solidFill>
                  <a:srgbClr val="0EA5E9"/>
                </a:solidFill>
                <a:latin typeface="Inter"/>
              </a:defRPr>
            </a:pPr>
            <a:r>
              <a:t>Tổng hợp điểm đa tiêu chí từ ngữ nghĩa, từ vựng và yêu cầu tuyển dụng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3328416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Outfit"/>
              </a:defRPr>
            </a:pPr>
            <a:r>
              <a:t>Trụ cột 1: SEMANTIC (40%)</a:t>
            </a:r>
          </a:p>
          <a:p>
            <a:pPr>
              <a:spcBef>
                <a:spcPts val="500"/>
              </a:spcBef>
              <a:defRPr sz="1300" i="1">
                <a:solidFill>
                  <a:srgbClr val="FFFFFF"/>
                </a:solidFill>
                <a:latin typeface="Inter"/>
              </a:defRPr>
            </a:pPr>
            <a:r>
              <a:t>So khớp ngữ nghĩa sâu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Sử dụng các mô hình học máy Sentence Transformer để mã hóa văn bản thành vector và tính toán độ tương đồng không gian.</a:t>
            </a:r>
          </a:p>
          <a:p>
            <a:pPr>
              <a:spcBef>
                <a:spcPts val="20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Thuật toán thành phần: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sBERT (all-MiniLM-L6-v2)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BERT (bert-base-uncased)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DistilBERT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425696" y="1828800"/>
            <a:ext cx="3328416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201168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Outfit"/>
              </a:defRPr>
            </a:pPr>
            <a:r>
              <a:t>Trụ cột 2: LEXICAL (30%)</a:t>
            </a:r>
          </a:p>
          <a:p>
            <a:pPr>
              <a:spcBef>
                <a:spcPts val="500"/>
              </a:spcBef>
              <a:defRPr sz="1300" i="1">
                <a:solidFill>
                  <a:srgbClr val="FFFFFF"/>
                </a:solidFill>
                <a:latin typeface="Inter"/>
              </a:defRPr>
            </a:pPr>
            <a:r>
              <a:t>So khớp từ vựng tần suất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Phân tích tần suất xuất hiện và mức độ quan trọng của từ khóa kỹ thuật xuất hiện đồng thời ở cả CV và JD.</a:t>
            </a:r>
          </a:p>
          <a:p>
            <a:pPr>
              <a:spcBef>
                <a:spcPts val="20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Thuật toán thành phần: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TF-IDF Cosine Similarity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BM25 (Best Matching 25)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Jaccard Overlap Coefficient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165592" y="1828800"/>
            <a:ext cx="3328416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201168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  <a:latin typeface="Outfit"/>
              </a:defRPr>
            </a:pPr>
            <a:r>
              <a:t>Trụ cột 3: REQUIREMENTS (30%)</a:t>
            </a:r>
          </a:p>
          <a:p>
            <a:pPr>
              <a:spcBef>
                <a:spcPts val="500"/>
              </a:spcBef>
              <a:defRPr sz="1300" i="1">
                <a:solidFill>
                  <a:srgbClr val="FFFFFF"/>
                </a:solidFill>
                <a:latin typeface="Inter"/>
              </a:defRPr>
            </a:pPr>
            <a:r>
              <a:t>So khớp kỹ năng &amp; quy tắc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Trích xuất thực thể tên kỹ năng, kinh nghiệm và tính toán mức độ đáp ứng các điều kiện cứng được quy định.</a:t>
            </a:r>
          </a:p>
          <a:p>
            <a:pPr>
              <a:spcBef>
                <a:spcPts val="20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Thuật toán thành phần: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Requirements Coverage (Regex)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NER Skill Extraction (spaCy NLP)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Must-have &amp; Constraints Checking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Công thức Tính điểm Hợp nhất (Score Fusion Engine)</a:t>
            </a:r>
          </a:p>
          <a:p>
            <a:pPr>
              <a:spcBef>
                <a:spcPts val="800"/>
              </a:spcBef>
              <a:defRPr sz="1600">
                <a:solidFill>
                  <a:srgbClr val="0EA5E9"/>
                </a:solidFill>
                <a:latin typeface="Inter"/>
              </a:defRPr>
            </a:pPr>
            <a:r>
              <a:t>Chi tiết toán học của cơ chế Ensembling đa tầng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Outfit"/>
              </a:defRPr>
            </a:pPr>
            <a:r>
              <a:t>1. Điểm Trụ cột (Pillar Score)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Courier New"/>
              </a:defRPr>
            </a:pPr>
            <a:r>
              <a:t>Pillar_Score = [ Sum(s_i * w_i) ] / [ Sum(w_i) ]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Trong đó: s_i là điểm của thuật toán thành phần i (sbert, bert, bm25...), w_i là trọng số nội bộ của thuật toán đó trong trụ cột. Nếu tổng trọng số = 0, chuyển sang tính trung bình cộng.</a:t>
            </a:r>
          </a:p>
          <a:p>
            <a:pPr>
              <a:spcBef>
                <a:spcPts val="2500"/>
              </a:spcBef>
              <a:defRPr sz="1800" b="1">
                <a:solidFill>
                  <a:srgbClr val="0EA5E9"/>
                </a:solidFill>
                <a:latin typeface="Outfit"/>
              </a:defRPr>
            </a:pPr>
            <a:r>
              <a:t>2. Điểm Tổng hợp (Raw Combined Score)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Courier New"/>
              </a:defRPr>
            </a:pPr>
            <a:r>
              <a:t>Raw_Score = [ Sum(Pillar_Score_j * W_j) ] / [ Sum(W_j) ]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Trong đó: W_j là trọng số toàn cục của Trụ cột j (Semantic = 0.4, Lexical = 0.3, Requirements = 0.3). Điểm số chỉ được tính trên các trụ cột đang ở trạng thái kích hoạt (active).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683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Outfit"/>
              </a:defRPr>
            </a:pPr>
            <a:r>
              <a:t>Cơ chế Phân bổ Trọng số Nội bộ (Weights)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Trụ cột Ngữ nghĩa (Semantic - Trọng số 0.40):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• sBERT: 0.50 | • BERT: 0.30 | • DistilBERT: 0.20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Trụ cột Từ vựng (Lexical - Trọng số 0.30):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• BM25: 0.40 | • Cosine TF-IDF: 0.40 | • Jaccard: 0.20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Trụ cột Kỹ năng (Requirements - Trọng số 0.30):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• Requirements Analyzer: 0.50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• Must Have Rules: 0.30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• NER Spacy Skills: 0.20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Cơ chế Trừ điểm Ràng buộc (Penalties Engine)</a:t>
            </a:r>
          </a:p>
          <a:p>
            <a:pPr>
              <a:spcBef>
                <a:spcPts val="800"/>
              </a:spcBef>
              <a:defRPr sz="1600">
                <a:solidFill>
                  <a:srgbClr val="0EA5E9"/>
                </a:solidFill>
                <a:latin typeface="Inter"/>
              </a:defRPr>
            </a:pPr>
            <a:r>
              <a:t>Các bộ phạt tự động điều chỉnh điểm số dựa trên yêu cầu cứng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  <a:latin typeface="Outfit"/>
              </a:defRPr>
            </a:pPr>
            <a:r>
              <a:t>Phạt Thiếu Kỹ năng Bắt buộc (Must-Have)</a:t>
            </a:r>
          </a:p>
          <a:p>
            <a:pPr>
              <a:spcBef>
                <a:spcPts val="1500"/>
              </a:spcBef>
              <a:defRPr sz="1300" b="1">
                <a:solidFill>
                  <a:srgbClr val="10B981"/>
                </a:solidFill>
                <a:latin typeface="Courier New"/>
              </a:defRPr>
            </a:pPr>
            <a:r>
              <a:t>Multiplier = max(0.75, 1.0 - (missing_count * 0.04))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Hệ số phạt áp dụng khi CV thiếu các kỹ năng ghi tại mục 'Must-Have'.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Mỗi kỹ năng thiếu bị phạt trừ đi 4% tổng điểm (multiplier giảm 0.04).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Giới hạn sàn phạt (penalty floor) là 0.75 (tối đa bị trừ 25% tổng điểm).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Ví dụ: Thiếu 2 kỹ năng -&gt; Điểm nhân hệ số 0.92 (-8%). Thiếu 10 kỹ năng -&gt; Điểm nhân hệ số 0.75 (-25%).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82880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683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  <a:latin typeface="Outfit"/>
              </a:defRPr>
            </a:pPr>
            <a:r>
              <a:t>Phạt Ràng buộc Cứng (Constraints)</a:t>
            </a:r>
          </a:p>
          <a:p>
            <a:pPr>
              <a:spcBef>
                <a:spcPts val="1500"/>
              </a:spcBef>
              <a:defRPr sz="1300" b="1">
                <a:solidFill>
                  <a:srgbClr val="10B981"/>
                </a:solidFill>
                <a:latin typeface="Courier New"/>
              </a:defRPr>
            </a:pPr>
            <a:r>
              <a:t>Multiplier = 0.92 (-8% Penalty)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Hệ số phạt áp dụng khi CV vi phạm các ràng buộc cứng do nhà tuyển dụng đặt ra (ví dụ: Địa điểm làm việc, Ngôn ngữ giao tiếp).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Trừ thẳng 8% điểm tổng hợp (nhân hệ số 0.92) nếu vi phạm.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Kết hợp cả hai hệ số phạt: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Final_Score = Raw_Score * Must_Have_Multiplier * Constraints_Multiplier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• Giúp đảm bảo các ứng viên không đáp ứng tiêu chuẩn địa lý hoặc ngôn ngữ cứng không thể có thứ hạng cao.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Quy trình Đồng bộ hóa Tách biệt (Sequence Workflow)</a:t>
            </a:r>
          </a:p>
          <a:p>
            <a:pPr>
              <a:spcBef>
                <a:spcPts val="800"/>
              </a:spcBef>
              <a:defRPr sz="1600">
                <a:solidFill>
                  <a:srgbClr val="0EA5E9"/>
                </a:solidFill>
                <a:latin typeface="Inter"/>
              </a:defRPr>
            </a:pPr>
            <a:r>
              <a:t>Tách biệt giữa tải JD (Admin) và so khớp CV (Ứng viên)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Outfit"/>
              </a:defRPr>
            </a:pPr>
            <a:r>
              <a:t>Bước 1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  <a:latin typeface="Outfit"/>
              </a:defRPr>
            </a:pPr>
            <a:r>
              <a:t>Admin Upload JD</a:t>
            </a:r>
          </a:p>
          <a:p>
            <a:pPr>
              <a:spcBef>
                <a:spcPts val="25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Admin tải hoặc cập nhật mô tả JD từ Frontend.</a:t>
            </a:r>
          </a:p>
          <a:p>
            <a:pPr>
              <a:spcBef>
                <a:spcPts val="1500"/>
              </a:spcBef>
              <a:defRPr sz="1100" i="1">
                <a:solidFill>
                  <a:srgbClr val="10B981"/>
                </a:solidFill>
                <a:latin typeface="Inter"/>
              </a:defRPr>
            </a:pPr>
            <a:r>
              <a:t>NestJS tiếp nhận và cập nhật vào CSDL DynamoDB.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Outfit"/>
              </a:defRPr>
            </a:pPr>
            <a:r>
              <a:t>Bước 2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  <a:latin typeface="Outfit"/>
              </a:defRPr>
            </a:pPr>
            <a:r>
              <a:t>Vector hóa Trước (Pre-vectorize)</a:t>
            </a:r>
          </a:p>
          <a:p>
            <a:pPr>
              <a:spcBef>
                <a:spcPts val="25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NestJS gọi ngầm sang Flask /api/v1/jd/vectorize.</a:t>
            </a:r>
          </a:p>
          <a:p>
            <a:pPr>
              <a:spcBef>
                <a:spcPts val="1500"/>
              </a:spcBef>
              <a:defRPr sz="1100" i="1">
                <a:solidFill>
                  <a:srgbClr val="10B981"/>
                </a:solidFill>
                <a:latin typeface="Inter"/>
              </a:defRPr>
            </a:pPr>
            <a:r>
              <a:t>Flask tính toán trước 3 vector nhúng (sbert, bert, distilbert) cùng với checksum và lưu vào PostgreSQL.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Outfit"/>
              </a:defRPr>
            </a:pPr>
            <a:r>
              <a:t>Bước 3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  <a:latin typeface="Outfit"/>
              </a:defRPr>
            </a:pPr>
            <a:r>
              <a:t>Ứng viên nộp CV</a:t>
            </a:r>
          </a:p>
          <a:p>
            <a:pPr>
              <a:spcBef>
                <a:spcPts val="25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Ứng viên nộp CV ứng tuyển. NestJS gọi /api/process-resumes.</a:t>
            </a:r>
          </a:p>
          <a:p>
            <a:pPr>
              <a:spcBef>
                <a:spcPts val="1500"/>
              </a:spcBef>
              <a:defRPr sz="1100" i="1">
                <a:solidFill>
                  <a:srgbClr val="10B981"/>
                </a:solidFill>
                <a:latin typeface="Inter"/>
              </a:defRPr>
            </a:pPr>
            <a:r>
              <a:t>Lần này NestJS chỉ gửi CV và jobId trong metadata (không gửi kèm văn bản JD).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Outfit"/>
              </a:defRPr>
            </a:pPr>
            <a:r>
              <a:t>Bước 4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  <a:latin typeface="Outfit"/>
              </a:defRPr>
            </a:pPr>
            <a:r>
              <a:t>Lấy từ Kho &amp; So khớp</a:t>
            </a:r>
          </a:p>
          <a:p>
            <a:pPr>
              <a:spcBef>
                <a:spcPts val="25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Flask truy vấn PostgreSQL lấy job_text và các vector đã tính trước.</a:t>
            </a:r>
          </a:p>
          <a:p>
            <a:pPr>
              <a:spcBef>
                <a:spcPts val="1500"/>
              </a:spcBef>
              <a:defRPr sz="1100" i="1">
                <a:solidFill>
                  <a:srgbClr val="10B981"/>
                </a:solidFill>
                <a:latin typeface="Inter"/>
              </a:defRPr>
            </a:pPr>
            <a:r>
              <a:t>So khớp nhanh tức thì. Trả kết quả xếp hạng và giải thích chi tiết về NestJS.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Bộ nhớ đệm pgvector &amp; Checksum Validation</a:t>
            </a:r>
          </a:p>
          <a:p>
            <a:pPr>
              <a:spcBef>
                <a:spcPts val="800"/>
              </a:spcBef>
              <a:defRPr sz="1600">
                <a:solidFill>
                  <a:srgbClr val="0EA5E9"/>
                </a:solidFill>
                <a:latin typeface="Inter"/>
              </a:defRPr>
            </a:pPr>
            <a:r>
              <a:t>Kiểm soát tính nhất quán và nâng phiên bản tự động dưới PostgreSQL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Outfit"/>
              </a:defRPr>
            </a:pPr>
            <a:r>
              <a:t>Cơ chế Checksum &amp; Tự tăng Phiên bản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1. Chữ ký số SHA-256 (Checksum):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 Hệ thống băm nội dung văn bản JD thô gửi lên thành chuỗi hex 64 ký tự lưu tại cột 'checksum'.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2. Kiểm tra trùng khớp: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 Khi nhận yêu cầu, hệ thống so sánh SHA-256 của JD mới nhận với checksum trong DB.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3. Tự tăng phiên bản (Automatic version increment):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 Nếu checksum trùng: sử dụng ngay vector đã tính trước.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 Nếu checksum lệch (JD bị sửa): phiên bản tự động tăng lên '+1' và lưu đè vector mới.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Inter"/>
              </a:defRPr>
            </a:pPr>
            <a:r>
              <a:t>4. Dọn dẹp vector cũ (Cache Invalidation):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   Đặt toàn bộ cột vector của các mô hình khác về 'NULL' để tránh trả về vector cũ bị lệch ngữ cảnh.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6832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Outfit"/>
              </a:defRPr>
            </a:pPr>
            <a:r>
              <a:t>Cấu trúc Bảng `job_profiles_vector`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Cấu trúc PostgreSQL lưu trữ các vector nhúng (pgvector) và quản lý metadata của JD:</a:t>
            </a:r>
          </a:p>
          <a:p>
            <a:pPr>
              <a:spcBef>
                <a:spcPts val="500"/>
              </a:spcBef>
              <a:defRPr sz="1000" b="1">
                <a:solidFill>
                  <a:srgbClr val="FFFFFF"/>
                </a:solidFill>
                <a:latin typeface="Courier New"/>
              </a:defRPr>
            </a:pPr>
            <a:r>
              <a:t>CREATE TABLE job_profiles_vector (</a:t>
            </a:r>
          </a:p>
          <a:p>
            <a:pPr>
              <a:spcBef>
                <a:spcPts val="2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    job_id VARCHAR(255) PRIMARY KEY,</a:t>
            </a:r>
          </a:p>
          <a:p>
            <a:pPr>
              <a:spcBef>
                <a:spcPts val="2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    job_vector vector(384),        -- sBERT</a:t>
            </a:r>
          </a:p>
          <a:p>
            <a:pPr>
              <a:spcBef>
                <a:spcPts val="2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    bert_vector vector(768),      -- BERT</a:t>
            </a:r>
          </a:p>
          <a:p>
            <a:pPr>
              <a:spcBef>
                <a:spcPts val="2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    distilbert_vector vector(768),-- DistilBERT</a:t>
            </a:r>
          </a:p>
          <a:p>
            <a:pPr>
              <a:spcBef>
                <a:spcPts val="2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    checksum VARCHAR(64),          -- SHA-256</a:t>
            </a:r>
          </a:p>
          <a:p>
            <a:pPr>
              <a:spcBef>
                <a:spcPts val="2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    version INT DEFAULT 1,         -- JD version</a:t>
            </a:r>
          </a:p>
          <a:p>
            <a:pPr>
              <a:spcBef>
                <a:spcPts val="2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    job_text TEXT,                 -- Raw text cached</a:t>
            </a:r>
          </a:p>
          <a:p>
            <a:pPr>
              <a:spcBef>
                <a:spcPts val="2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    created_at TIMESTAMP,</a:t>
            </a:r>
          </a:p>
          <a:p>
            <a:pPr>
              <a:spcBef>
                <a:spcPts val="2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    updated_at TIMESTAMP</a:t>
            </a:r>
          </a:p>
          <a:p>
            <a:pPr>
              <a:spcBef>
                <a:spcPts val="500"/>
              </a:spcBef>
              <a:defRPr sz="1000" b="1">
                <a:solidFill>
                  <a:srgbClr val="FFFFFF"/>
                </a:solidFill>
                <a:latin typeface="Courier New"/>
              </a:defRPr>
            </a:pPr>
            <a:r>
              <a:t>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